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7772400" cy="10058400"/>
  <p:notesSz cx="10058400" cy="77724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with the one idea: clearance is normally painful and slow; we make it simple. Keep it short — the screenshots do the selling.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Land the pain so the solution feels valuable. Most people underestimate how many separate rights a single project touches.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whole pitch in one line. Pause here before showing the product.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simplicity slide. Three steps, and the human only does step 3 — approve.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the real workspace. The right side literally tells the producer what to do next.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wow. AI drafts the outreach, reads the reply, and recommends the next move; the human approves.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Music is the hardest clearance of all. We auto-research it and can delegate just this part to a music supervisor.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Tie it back to outcomes Mara cares about: speed, fewer mistakes, less legal cost, and a clean record.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Close, then switch to the live app and walk the real flow side-by-side.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3B6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Cleared</a:t>
            </a:r>
            <a:pPr indent="0" marL="0">
              <a:buNone/>
            </a:pPr>
            <a:r>
              <a:rPr lang="en-US" sz="1500" b="1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548640" y="2743200"/>
            <a:ext cx="6675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5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Clearance,</a:t>
            </a:r>
            <a:endParaRPr lang="en-US" sz="5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5000" b="1" dirty="0">
                <a:solidFill>
                  <a:srgbClr val="F2A9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made simple.</a:t>
            </a:r>
            <a:endParaRPr lang="en-US" sz="5000" dirty="0"/>
          </a:p>
        </p:txBody>
      </p:sp>
      <p:sp>
        <p:nvSpPr>
          <p:cNvPr id="4" name="Text 2"/>
          <p:cNvSpPr/>
          <p:nvPr/>
        </p:nvSpPr>
        <p:spPr>
          <a:xfrm>
            <a:off x="548640" y="5029200"/>
            <a:ext cx="6675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handles the contracts, the outreach, and the back-and-forth. You just approve.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548640" y="8595360"/>
            <a:ext cx="6675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</a:t>
            </a:r>
            <a:pPr indent="0" marL="0">
              <a:buNone/>
            </a:pPr>
            <a:r>
              <a:rPr lang="en-US" sz="1800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→   </a:t>
            </a:r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clears it</a:t>
            </a:r>
            <a:pPr indent="0" marL="0">
              <a:buNone/>
            </a:pPr>
            <a:r>
              <a:rPr lang="en-US" sz="1800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→   </a:t>
            </a:r>
            <a:pPr indent="0" marL="0">
              <a:buNone/>
            </a:pPr>
            <a:r>
              <a:rPr lang="en-US" sz="1800" b="1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Done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D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Cleared</a:t>
            </a:r>
            <a:pPr indent="0" marL="0">
              <a:buNone/>
            </a:pPr>
            <a:r>
              <a:rPr lang="en-US" sz="1500" b="1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pPr indent="0" marL="0">
              <a:buNone/>
            </a:pPr>
            <a:r>
              <a:rPr lang="en-US" sz="1500" b="1" dirty="0">
                <a:solidFill>
                  <a:srgbClr val="0D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6675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D3B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Getting content cleared is brutal.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783080"/>
            <a:ext cx="6675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project means chasing rights — one by one.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2514600"/>
            <a:ext cx="6675120" cy="1463040"/>
          </a:xfrm>
          <a:prstGeom prst="roundRect">
            <a:avLst>
              <a:gd name="adj" fmla="val 5000"/>
            </a:avLst>
          </a:prstGeom>
          <a:solidFill>
            <a:srgbClr val="F1F5FB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3063240"/>
            <a:ext cx="201168" cy="201168"/>
          </a:xfrm>
          <a:prstGeom prst="ellipse">
            <a:avLst/>
          </a:prstGeom>
          <a:solidFill>
            <a:srgbClr val="F2A900"/>
          </a:solidFill>
          <a:ln/>
        </p:spPr>
      </p:sp>
      <p:sp>
        <p:nvSpPr>
          <p:cNvPr id="7" name="Text 5"/>
          <p:cNvSpPr/>
          <p:nvPr/>
        </p:nvSpPr>
        <p:spPr>
          <a:xfrm>
            <a:off x="1325880" y="2788920"/>
            <a:ext cx="5577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Dozens of rights holders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325880" y="3264408"/>
            <a:ext cx="5577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Labels, publishers, performers, venues — each one separate.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4142232"/>
            <a:ext cx="6675120" cy="1463040"/>
          </a:xfrm>
          <a:prstGeom prst="roundRect">
            <a:avLst>
              <a:gd name="adj" fmla="val 5000"/>
            </a:avLst>
          </a:prstGeom>
          <a:solidFill>
            <a:srgbClr val="F1F5FB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4690872"/>
            <a:ext cx="201168" cy="201168"/>
          </a:xfrm>
          <a:prstGeom prst="ellipse">
            <a:avLst/>
          </a:prstGeom>
          <a:solidFill>
            <a:srgbClr val="F2A900"/>
          </a:solidFill>
          <a:ln/>
        </p:spPr>
      </p:sp>
      <p:sp>
        <p:nvSpPr>
          <p:cNvPr id="11" name="Text 9"/>
          <p:cNvSpPr/>
          <p:nvPr/>
        </p:nvSpPr>
        <p:spPr>
          <a:xfrm>
            <a:off x="1325880" y="4416552"/>
            <a:ext cx="5577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contract for every single one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325880" y="4892040"/>
            <a:ext cx="5577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Drafted, sent, chased, signed. Repeat.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48640" y="5769864"/>
            <a:ext cx="6675120" cy="1463040"/>
          </a:xfrm>
          <a:prstGeom prst="roundRect">
            <a:avLst>
              <a:gd name="adj" fmla="val 5000"/>
            </a:avLst>
          </a:prstGeom>
          <a:solidFill>
            <a:srgbClr val="F1F5FB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4400" y="6318504"/>
            <a:ext cx="201168" cy="201168"/>
          </a:xfrm>
          <a:prstGeom prst="ellipse">
            <a:avLst/>
          </a:prstGeom>
          <a:solidFill>
            <a:srgbClr val="F2A900"/>
          </a:solidFill>
          <a:ln/>
        </p:spPr>
      </p:sp>
      <p:sp>
        <p:nvSpPr>
          <p:cNvPr id="15" name="Text 13"/>
          <p:cNvSpPr/>
          <p:nvPr/>
        </p:nvSpPr>
        <p:spPr>
          <a:xfrm>
            <a:off x="1325880" y="6044184"/>
            <a:ext cx="5577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Weeks of email back-and-forth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325880" y="6519672"/>
            <a:ext cx="5577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Follow-ups, counters, and dead ends.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48640" y="7397496"/>
            <a:ext cx="6675120" cy="1463040"/>
          </a:xfrm>
          <a:prstGeom prst="roundRect">
            <a:avLst>
              <a:gd name="adj" fmla="val 5000"/>
            </a:avLst>
          </a:prstGeom>
          <a:solidFill>
            <a:srgbClr val="F1F5FB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14400" y="7946136"/>
            <a:ext cx="201168" cy="201168"/>
          </a:xfrm>
          <a:prstGeom prst="ellipse">
            <a:avLst/>
          </a:prstGeom>
          <a:solidFill>
            <a:srgbClr val="F2A900"/>
          </a:solidFill>
          <a:ln/>
        </p:spPr>
      </p:sp>
      <p:sp>
        <p:nvSpPr>
          <p:cNvPr id="19" name="Text 17"/>
          <p:cNvSpPr/>
          <p:nvPr/>
        </p:nvSpPr>
        <p:spPr>
          <a:xfrm>
            <a:off x="1325880" y="7671816"/>
            <a:ext cx="5577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 one waiver — everything stalls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325880" y="8147304"/>
            <a:ext cx="5577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gap can hold up the whole release.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3B6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Cleared</a:t>
            </a:r>
            <a:pPr indent="0" marL="0">
              <a:buNone/>
            </a:pPr>
            <a:r>
              <a:rPr lang="en-US" sz="1500" b="1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548640" y="3291840"/>
            <a:ext cx="66751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rail.</a:t>
            </a:r>
            <a:endParaRPr lang="en-US" sz="4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2A9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Both sides of the deal.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5852160"/>
            <a:ext cx="6675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Platforms intake the project. Labels issue the waiver. One rail, one AI — drafted, negotiated, and tracked to signed.</a:t>
            </a:r>
            <a:endParaRPr lang="en-US" sz="1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D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Cleared</a:t>
            </a:r>
            <a:pPr indent="0" marL="0">
              <a:buNone/>
            </a:pPr>
            <a:r>
              <a:rPr lang="en-US" sz="1500" b="1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pPr indent="0" marL="0">
              <a:buNone/>
            </a:pPr>
            <a:r>
              <a:rPr lang="en-US" sz="1500" b="1" dirty="0">
                <a:solidFill>
                  <a:srgbClr val="0D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6675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D3B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it works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783080"/>
            <a:ext cx="6675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steps. That's the whole thing.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2697480"/>
            <a:ext cx="6675120" cy="1965960"/>
          </a:xfrm>
          <a:prstGeom prst="roundRect">
            <a:avLst>
              <a:gd name="adj" fmla="val 3721"/>
            </a:avLst>
          </a:prstGeom>
          <a:solidFill>
            <a:srgbClr val="F1F5FB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38100" dir="5400000">
              <a:srgbClr val="0A2A4E">
                <a:alpha val="14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914400" y="3200400"/>
            <a:ext cx="914400" cy="914400"/>
          </a:xfrm>
          <a:prstGeom prst="ellipse">
            <a:avLst/>
          </a:prstGeom>
          <a:solidFill>
            <a:srgbClr val="F2A900"/>
          </a:solidFill>
          <a:ln/>
          <a:effectLst>
            <a:outerShdw sx="100000" sy="100000" kx="0" ky="0" algn="bl" rotWithShape="0" blurRad="127000" dist="38100" dir="5400000">
              <a:srgbClr val="0A2A4E">
                <a:alpha val="14000"/>
              </a:srgbClr>
            </a:outerShdw>
          </a:effectLst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914400" y="32004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D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2103120" y="3081528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D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 your project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2103120" y="3657600"/>
            <a:ext cx="4754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Tell us about it once — any project, from live music to a feature film — and we build the full checklist.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48640" y="4846320"/>
            <a:ext cx="6675120" cy="1965960"/>
          </a:xfrm>
          <a:prstGeom prst="roundRect">
            <a:avLst>
              <a:gd name="adj" fmla="val 3721"/>
            </a:avLst>
          </a:prstGeom>
          <a:solidFill>
            <a:srgbClr val="F1F5FB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38100" dir="5400000">
              <a:srgbClr val="0A2A4E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914400" y="5349240"/>
            <a:ext cx="914400" cy="914400"/>
          </a:xfrm>
          <a:prstGeom prst="ellipse">
            <a:avLst/>
          </a:prstGeom>
          <a:solidFill>
            <a:srgbClr val="F2A900"/>
          </a:solidFill>
          <a:ln/>
          <a:effectLst>
            <a:outerShdw sx="100000" sy="100000" kx="0" ky="0" algn="bl" rotWithShape="0" blurRad="127000" dist="38100" dir="5400000">
              <a:srgbClr val="0A2A4E">
                <a:alpha val="14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914400" y="534924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D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2103120" y="5230368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D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drafts &amp; negotiates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2103120" y="5806440"/>
            <a:ext cx="4754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agreement and outreach email is written for you. AI even handles the replies.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48640" y="6995160"/>
            <a:ext cx="6675120" cy="1965960"/>
          </a:xfrm>
          <a:prstGeom prst="roundRect">
            <a:avLst>
              <a:gd name="adj" fmla="val 3721"/>
            </a:avLst>
          </a:prstGeom>
          <a:solidFill>
            <a:srgbClr val="E9F6E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38100" dir="5400000">
              <a:srgbClr val="0A2A4E">
                <a:alpha val="14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914400" y="7498080"/>
            <a:ext cx="914400" cy="914400"/>
          </a:xfrm>
          <a:prstGeom prst="ellipse">
            <a:avLst/>
          </a:prstGeom>
          <a:solidFill>
            <a:srgbClr val="F2A900"/>
          </a:solidFill>
          <a:ln/>
          <a:effectLst>
            <a:outerShdw sx="100000" sy="100000" kx="0" ky="0" algn="bl" rotWithShape="0" blurRad="127000" dist="38100" dir="5400000">
              <a:srgbClr val="0A2A4E">
                <a:alpha val="14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914400" y="749808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D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2103120" y="7379208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D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approve — it's cleared</a:t>
            </a:r>
            <a:endParaRPr lang="en-US" sz="2100" dirty="0"/>
          </a:p>
        </p:txBody>
      </p:sp>
      <p:sp>
        <p:nvSpPr>
          <p:cNvPr id="19" name="Text 17"/>
          <p:cNvSpPr/>
          <p:nvPr/>
        </p:nvSpPr>
        <p:spPr>
          <a:xfrm>
            <a:off x="2103120" y="7955280"/>
            <a:ext cx="4754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recommendation, click approve, and watch it track all the way to done.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D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Cleared</a:t>
            </a:r>
            <a:pPr indent="0" marL="0">
              <a:buNone/>
            </a:pPr>
            <a:r>
              <a:rPr lang="en-US" sz="1500" b="1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pPr indent="0" marL="0">
              <a:buNone/>
            </a:pPr>
            <a:r>
              <a:rPr lang="en-US" sz="1500" b="1" dirty="0">
                <a:solidFill>
                  <a:srgbClr val="0D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6675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0D3B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Everything in one place.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484632" y="3919665"/>
            <a:ext cx="6803136" cy="2584831"/>
          </a:xfrm>
          <a:prstGeom prst="roundRect">
            <a:avLst>
              <a:gd name="adj" fmla="val 212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38100" dir="5400000">
              <a:srgbClr val="0A2A4E">
                <a:alpha val="14000"/>
              </a:srgbClr>
            </a:outerShdw>
          </a:effectLst>
        </p:spPr>
      </p:sp>
      <p:pic>
        <p:nvPicPr>
          <p:cNvPr id="5" name="Image 0" descr="/tmp/clp_deck/shots/act3_workspa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3983673"/>
            <a:ext cx="6675120" cy="2456815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48640" y="6714808"/>
            <a:ext cx="6675120" cy="1143000"/>
          </a:xfrm>
          <a:prstGeom prst="roundRect">
            <a:avLst>
              <a:gd name="adj" fmla="val 6400"/>
            </a:avLst>
          </a:prstGeom>
          <a:solidFill>
            <a:srgbClr val="0D3B6E"/>
          </a:solidFill>
          <a:ln/>
          <a:effectLst>
            <a:outerShdw sx="100000" sy="100000" kx="0" ky="0" algn="bl" rotWithShape="0" blurRad="127000" dist="38100" dir="5400000">
              <a:srgbClr val="0A2A4E">
                <a:alpha val="14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68680" y="6714808"/>
            <a:ext cx="60350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a glance —  </a:t>
            </a:r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progress, every clearance, and the exact next step.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D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Cleared</a:t>
            </a:r>
            <a:pPr indent="0" marL="0">
              <a:buNone/>
            </a:pPr>
            <a:r>
              <a:rPr lang="en-US" sz="1500" b="1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pPr indent="0" marL="0">
              <a:buNone/>
            </a:pPr>
            <a:r>
              <a:rPr lang="en-US" sz="1500" b="1" dirty="0">
                <a:solidFill>
                  <a:srgbClr val="0D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6675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0D3B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AI does the hard part.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484632" y="2495362"/>
            <a:ext cx="6803136" cy="5433436"/>
          </a:xfrm>
          <a:prstGeom prst="roundRect">
            <a:avLst>
              <a:gd name="adj" fmla="val 101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38100" dir="5400000">
              <a:srgbClr val="0A2A4E">
                <a:alpha val="14000"/>
              </a:srgbClr>
            </a:outerShdw>
          </a:effectLst>
        </p:spPr>
      </p:sp>
      <p:pic>
        <p:nvPicPr>
          <p:cNvPr id="5" name="Image 0" descr="/tmp/clp_deck/shots/act4_negoti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559370"/>
            <a:ext cx="6675120" cy="530542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48640" y="8139110"/>
            <a:ext cx="6675120" cy="1143000"/>
          </a:xfrm>
          <a:prstGeom prst="roundRect">
            <a:avLst>
              <a:gd name="adj" fmla="val 6400"/>
            </a:avLst>
          </a:prstGeom>
          <a:solidFill>
            <a:srgbClr val="0D3B6E"/>
          </a:solidFill>
          <a:ln/>
          <a:effectLst>
            <a:outerShdw sx="100000" sy="100000" kx="0" ky="0" algn="bl" rotWithShape="0" blurRad="127000" dist="38100" dir="5400000">
              <a:srgbClr val="0A2A4E">
                <a:alpha val="14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68680" y="8139110"/>
            <a:ext cx="60350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writes and negotiates —  </a:t>
            </a:r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agreement and the emails. You just approve.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D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Cleared</a:t>
            </a:r>
            <a:pPr indent="0" marL="0">
              <a:buNone/>
            </a:pPr>
            <a:r>
              <a:rPr lang="en-US" sz="1500" b="1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pPr indent="0" marL="0">
              <a:buNone/>
            </a:pPr>
            <a:r>
              <a:rPr lang="en-US" sz="1500" b="1" dirty="0">
                <a:solidFill>
                  <a:srgbClr val="0D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6675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0D3B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Even music is handled.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484632" y="2969387"/>
            <a:ext cx="6803136" cy="4485386"/>
          </a:xfrm>
          <a:prstGeom prst="roundRect">
            <a:avLst>
              <a:gd name="adj" fmla="val 122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38100" dir="5400000">
              <a:srgbClr val="0A2A4E">
                <a:alpha val="14000"/>
              </a:srgbClr>
            </a:outerShdw>
          </a:effectLst>
        </p:spPr>
        <p:txBody>
          <a:bodyPr/>
          <a:p/>
        </p:txBody>
      </p:sp>
      <p:pic>
        <p:nvPicPr>
          <p:cNvPr id="5" name="Image 0" descr="/tmp/clp_deck/shots/act6_musi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3033395"/>
            <a:ext cx="6675120" cy="435737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48640" y="7665085"/>
            <a:ext cx="6675120" cy="1143000"/>
          </a:xfrm>
          <a:prstGeom prst="roundRect">
            <a:avLst>
              <a:gd name="adj" fmla="val 6400"/>
            </a:avLst>
          </a:prstGeom>
          <a:solidFill>
            <a:srgbClr val="0D3B6E"/>
          </a:solidFill>
          <a:ln/>
          <a:effectLst>
            <a:outerShdw sx="100000" sy="100000" kx="0" ky="0" algn="bl" rotWithShape="0" blurRad="127000" dist="38100" dir="5400000">
              <a:srgbClr val="0A2A4E">
                <a:alpha val="14000"/>
              </a:srgbClr>
            </a:outerShdw>
          </a:effectLst>
        </p:spPr>
        <p:txBody>
          <a:bodyPr/>
          <a:p/>
        </p:txBody>
      </p:sp>
      <p:sp>
        <p:nvSpPr>
          <p:cNvPr id="7" name="Text 4"/>
          <p:cNvSpPr/>
          <p:nvPr/>
        </p:nvSpPr>
        <p:spPr>
          <a:xfrm>
            <a:off x="868680" y="7665085"/>
            <a:ext cx="60350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messiest part — songs, writers &amp; publishers auto-researched, handed to a specialist, or cleared by the label's own waiver.</a:t>
            </a:r>
            <a:pPr indent="0" marL="0">
              <a:lnSpc>
                <a:spcPct val="105000"/>
              </a:lnSpc>
              <a:buNone/>
            </a:pP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D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Cleared</a:t>
            </a:r>
            <a:pPr indent="0" marL="0">
              <a:buNone/>
            </a:pPr>
            <a:r>
              <a:rPr lang="en-US" sz="1500" b="1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pPr indent="0" marL="0">
              <a:buNone/>
            </a:pPr>
            <a:r>
              <a:rPr lang="en-US" sz="1500" b="1" dirty="0">
                <a:solidFill>
                  <a:srgbClr val="0D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6675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D3B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that means for you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2331720"/>
            <a:ext cx="3177540" cy="2743200"/>
          </a:xfrm>
          <a:prstGeom prst="roundRect">
            <a:avLst>
              <a:gd name="adj" fmla="val 2667"/>
            </a:avLst>
          </a:prstGeom>
          <a:solidFill>
            <a:srgbClr val="E9F6EF"/>
          </a:solidFill>
          <a:ln w="12700">
            <a:solidFill>
              <a:srgbClr val="CDEBD9"/>
            </a:solidFill>
            <a:prstDash val="solid"/>
          </a:ln>
          <a:effectLst>
            <a:outerShdw sx="100000" sy="100000" kx="0" ky="0" algn="bl" rotWithShape="0" blurRad="127000" dist="38100" dir="5400000">
              <a:srgbClr val="0A2A4E">
                <a:alpha val="14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914400" y="2743200"/>
            <a:ext cx="24460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679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Weeks → days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914400" y="3703320"/>
            <a:ext cx="24460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Clearances move in parallel, not one slow email at a time.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046220" y="2331720"/>
            <a:ext cx="3177540" cy="2743200"/>
          </a:xfrm>
          <a:prstGeom prst="roundRect">
            <a:avLst>
              <a:gd name="adj" fmla="val 2667"/>
            </a:avLst>
          </a:prstGeom>
          <a:solidFill>
            <a:srgbClr val="E9F6EF"/>
          </a:solidFill>
          <a:ln w="12700">
            <a:solidFill>
              <a:srgbClr val="CDEBD9"/>
            </a:solidFill>
            <a:prstDash val="solid"/>
          </a:ln>
          <a:effectLst>
            <a:outerShdw sx="100000" sy="100000" kx="0" ky="0" algn="bl" rotWithShape="0" blurRad="127000" dist="38100" dir="5400000">
              <a:srgbClr val="0A2A4E">
                <a:alpha val="14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4411980" y="2743200"/>
            <a:ext cx="24460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679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Fewer missed rights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4411980" y="3703320"/>
            <a:ext cx="24460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guided checklist means nothing slips through.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48640" y="5394960"/>
            <a:ext cx="3177540" cy="2743200"/>
          </a:xfrm>
          <a:prstGeom prst="roundRect">
            <a:avLst>
              <a:gd name="adj" fmla="val 2667"/>
            </a:avLst>
          </a:prstGeom>
          <a:solidFill>
            <a:srgbClr val="E9F6EF"/>
          </a:solidFill>
          <a:ln w="12700">
            <a:solidFill>
              <a:srgbClr val="CDEBD9"/>
            </a:solidFill>
            <a:prstDash val="solid"/>
          </a:ln>
          <a:effectLst>
            <a:outerShdw sx="100000" sy="100000" kx="0" ky="0" algn="bl" rotWithShape="0" blurRad="127000" dist="38100" dir="5400000">
              <a:srgbClr val="0A2A4E">
                <a:alpha val="14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914400" y="5806440"/>
            <a:ext cx="24460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679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legal drafting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914400" y="6766560"/>
            <a:ext cx="24460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Agreements and outreach are written for you.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4046220" y="5394960"/>
            <a:ext cx="3177540" cy="2743200"/>
          </a:xfrm>
          <a:prstGeom prst="roundRect">
            <a:avLst>
              <a:gd name="adj" fmla="val 2667"/>
            </a:avLst>
          </a:prstGeom>
          <a:solidFill>
            <a:srgbClr val="E9F6EF"/>
          </a:solidFill>
          <a:ln w="12700">
            <a:solidFill>
              <a:srgbClr val="CDEBD9"/>
            </a:solidFill>
            <a:prstDash val="solid"/>
          </a:ln>
          <a:effectLst>
            <a:outerShdw sx="100000" sy="100000" kx="0" ky="0" algn="bl" rotWithShape="0" blurRad="127000" dist="38100" dir="5400000">
              <a:srgbClr val="0A2A4E">
                <a:alpha val="14000"/>
              </a:srgbClr>
            </a:outerShdw>
          </a:effectLst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4411980" y="5806440"/>
            <a:ext cx="24460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679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Full audit trail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4411980" y="6766560"/>
            <a:ext cx="24460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approval, waiver, and document — the proof labels and platforms require.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3B6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383280"/>
            <a:ext cx="6675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Cleared</a:t>
            </a:r>
            <a:pPr algn="ctr" indent="0" marL="0">
              <a:buNone/>
            </a:pPr>
            <a:r>
              <a:rPr lang="en-US" sz="4000" b="1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548640" y="4480560"/>
            <a:ext cx="6675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i="1" dirty="0">
                <a:solidFill>
                  <a:srgbClr val="F2A9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Clearance, made simple.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5577840"/>
            <a:ext cx="6675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It's live in production. Let's walk through it — starting with a major label.</a:t>
            </a:r>
            <a:endParaRPr lang="en-US"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Cleared.live</dc:title>
  <dc:subject>PptxGenJS Presentation</dc:subject>
  <dc:creator>Cleared.live</dc:creator>
  <cp:lastModifiedBy>Cleared.live</cp:lastModifiedBy>
  <cp:revision>1</cp:revision>
  <dcterms:created xsi:type="dcterms:W3CDTF">2026-06-22T23:22:39Z</dcterms:created>
  <dcterms:modified xsi:type="dcterms:W3CDTF">2026-06-22T23:22:39Z</dcterms:modified>
</cp:coreProperties>
</file>